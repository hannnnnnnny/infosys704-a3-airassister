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5240000" cy="85725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morning. [pause] AirAssist prepares refund cases for Air New Zealand. I will show one request reaching its review team.</a:t>
            </a:r>
          </a:p>
          <a:p>
            <a:endParaRPr/>
          </a:p>
          <a:p>
            <a:r>
              <a:t>Sources</a:t>
            </a:r>
          </a:p>
          <a:p>
            <a:r>
              <a:t>INFOSYS 704 A3 specification V3: five-minute functional app pitch using SCR.</a:t>
            </a:r>
          </a:p>
          <a:p>
            <a:r>
              <a:t>https://slidepeak.com/blog/presenting-techniques</a:t>
            </a:r>
          </a:p>
          <a:p>
            <a:r>
              <a:t>Cover: existing generated aviation illustration, not an actual Air New Zealand 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group idea supports passengers after flight changes. [pause] This first part handles direct-booking refunds. Travel-agent bookings follow another path.</a:t>
            </a:r>
          </a:p>
          <a:p>
            <a:endParaRPr/>
          </a:p>
          <a:p>
            <a:r>
              <a:t>Sources</a:t>
            </a:r>
          </a:p>
          <a:p>
            <a:r>
              <a:t>Group XL workbook, Sheet1 row 27: Group 19 wider disruption-service theme.</a:t>
            </a:r>
          </a:p>
          <a:p>
            <a:r>
              <a:t>https://www.airnewzealand.com/manage-bookings</a:t>
            </a:r>
          </a:p>
          <a:p>
            <a:r>
              <a:t>Passenger image: existing generated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Existing forms have required fields. [pause] Earlier staff input describes wrong details and complex cases. Our checklist and named review route prepare the handoff.</a:t>
            </a:r>
          </a:p>
          <a:p>
            <a:endParaRPr/>
          </a:p>
          <a:p>
            <a:r>
              <a:t>Sources</a:t>
            </a:r>
          </a:p>
          <a:p>
            <a:r>
              <a:t>Existing A1D2 employee material and individual A2 proposal: mandatory fields already exist, inaccurate details require follow-up, complex cases need manual handling. Employee material has indirect refund exposure. Kerrie material is an AI-prepared summary.</a:t>
            </a:r>
          </a:p>
          <a:p>
            <a:r>
              <a:t>Evidence image: existing generated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Case preparation offers useful impact with a manageable scope. [pause] Staff retain refund decisions and approval. Actual payment needs later airline integration.</a:t>
            </a:r>
          </a:p>
          <a:p>
            <a:endParaRPr/>
          </a:p>
          <a:p>
            <a:r>
              <a:t>Sources</a:t>
            </a:r>
          </a:p>
          <a:p>
            <a:r>
              <a:t>Qualitative scope comparison based on the individual A2 proposal and SENIOR_CONSULTANT_PLAN_V1_2.txt. Relative effort is a planning judgment.</a:t>
            </a:r>
          </a:p>
          <a:p>
            <a:r>
              <a:t>https://thedigitalprojectmanager.com/productivity/impact-effort-matrix/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used five design stages. [pause] Earlier staff input shaped the checks. We grouped review actions, then checked handoff and draft recovery.</a:t>
            </a:r>
          </a:p>
          <a:p>
            <a:endParaRPr/>
          </a:p>
          <a:p>
            <a:r>
              <a:t>Sources</a:t>
            </a:r>
          </a:p>
          <a:p>
            <a:r>
              <a:t>Earlier staff material, requester design feedback and developer review inform this iteration.</a:t>
            </a:r>
          </a:p>
          <a:p>
            <a:r>
              <a:t>DESIGN_FEEDBACK_LEDGER.txt; V1_3_BROWSER_ACCEPTANCE.json.</a:t>
            </a:r>
          </a:p>
          <a:p>
            <a:r>
              <a:t>https://www.interaction-design.org/literature/article/5-stages-in-the-design-thinking-process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SAP API partly fits. [pause] We kept the refund process, used sample journeys, and saved SAP financial references. These are our Option Two changes.</a:t>
            </a:r>
          </a:p>
          <a:p>
            <a:endParaRPr/>
          </a:p>
          <a:p>
            <a:r>
              <a:t>Sources</a:t>
            </a:r>
          </a:p>
          <a:p>
            <a:r>
              <a:t>INFOSYS 704 A3 specification V3: Option 2 requires details of changes for partial SAP API fit.</a:t>
            </a:r>
          </a:p>
          <a:p>
            <a:r>
              <a:t>Group A3 adapts one member’s individual A2 refund-preparation proposal and TO-BE model. The wider group theme includes other disruption tasks.</a:t>
            </a:r>
          </a:p>
          <a:p>
            <a:r>
              <a:t>Journeys use synthetic fixtures. Credit Memo Request provides read-only SAP financial context. The case checklist, route and queue remain local application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app reads Credit Memo Request through a personal SAP account. [pause] Staff save its source, time, and reference note. Booking payment remains unverified.</a:t>
            </a:r>
          </a:p>
          <a:p>
            <a:endParaRPr/>
          </a:p>
          <a:p>
            <a:r>
              <a:t>Sources</a:t>
            </a:r>
          </a:p>
          <a:p>
            <a:r>
              <a:t>https://api.sap.com/api/sap-s4-CE_CREDITMEMOREQUEST_0001-v1/overview</a:t>
            </a:r>
          </a:p>
          <a:p>
            <a:r>
              <a:t>SAP public sandbox record 60000002, read using the personal API account. Generic financial context, not an airline booking, paid fare or approved refund.</a:t>
            </a:r>
          </a:p>
          <a:p>
            <a:r>
              <a:t>Native table transcribes the actual saved response shown in outputs/A3_App_V1/screenshots/V1_4/sap-case-reference.png. Document 60000002, net USD 1,000.00, preceding 60000001, process C raw code, approval not supplied; read-only GET captured 9 Oct 2026 at 12:35 pm. Booking match not verified; payment verification not performed.</a:t>
            </a:r>
          </a:p>
          <a:p>
            <a:r>
              <a:t>Source and capture time belong to the saved reference. Staff retain manual eligibility and amount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 is a saved request. [pause] Missing checks block handoff. [pause for demo] I add the SAP reference. The checks stay unchanged. [pause for demo] I record and save the manual review. [pause for demo] Now I send the case to its queue. [pause for demo] Tracking shows the same status. The refund decision remains pending.</a:t>
            </a:r>
          </a:p>
          <a:p>
            <a:endParaRPr/>
          </a:p>
          <a:p>
            <a:r>
              <a:t>Sources</a:t>
            </a:r>
          </a:p>
          <a:p>
            <a:r>
              <a:t>Actual V1.4 browser captures on 2026-10-09. Initial-state example AF-A5B5BA84B950 v0 shows incomplete review and disabled handoff. Prepared-stage example AF-CC7A93DA2007 v2 shows saved manual review ready for the standard queue.</a:t>
            </a:r>
          </a:p>
          <a:p>
            <a:r>
              <a:t>The main acceptance case AF-CC7A93DA2007 retained all three manual checks as false after personal SAP GET 60000002 at v1. Staff saved those checks at v2, handed off at v3, reopened with a reason at v4, saved specialist review at v5 and handed off to the specialist queue at v6. Tracking and downloadable receipt use the same persisted record.</a:t>
            </a:r>
          </a:p>
          <a:p>
            <a:r>
              <a:t>The app records a local review queue, not a SAP refund posting or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Staff see saved status beside review actions. [pause] Draft recovery and version warnings protect work. Complex cases show their specialist and queue.</a:t>
            </a:r>
          </a:p>
          <a:p>
            <a:endParaRPr/>
          </a:p>
          <a:p>
            <a:r>
              <a:t>Sources</a:t>
            </a:r>
          </a:p>
          <a:p>
            <a:r>
              <a:t>https://www.nngroup.com/articles/ten-usability-heuristics/</a:t>
            </a:r>
          </a:p>
          <a:p>
            <a:r>
              <a:t>Implemented status visibility, real-world booking language, Back/Edit/Reopen controls, shared navigation, acknowledgement and handoff prevention, visible checklists, saved-request shortcut, focused pages, clear errors, draft recovery and field help.</a:t>
            </a:r>
          </a:p>
          <a:p>
            <a:r>
              <a:t>The mobile capture demonstrates responsive browser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OpenCode helped build the core workflow. [pause] We checked saved records, SAP errors, review recovery, and the app package.</a:t>
            </a:r>
          </a:p>
          <a:p>
            <a:endParaRPr/>
          </a:p>
          <a:p>
            <a:r>
              <a:t>Sources</a:t>
            </a:r>
          </a:p>
          <a:p>
            <a:r>
              <a:t>OPENCODE_CASE_SESSION.json and OPENCODE_SESSION.json: genuine retained OpenCode core-workflow and receipt contributions. Later design and maintenance changes are recorded separately.</a:t>
            </a:r>
          </a:p>
          <a:p>
            <a:r>
              <a:t>Current backend tests, front-end source checks, browser case acceptance and fresh-copy package launch form separate verification evidence.</a:t>
            </a:r>
          </a:p>
          <a:p>
            <a:r>
              <a:t>https://help.sap.com/docs/build-apps/service-guide/right-way-to-sap-build-apps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small pilot is next. [pause] The process owner agrees the checks. We measure readiness, repeated work, and handling time. Today, we seek agreement on this scope.</a:t>
            </a:r>
          </a:p>
          <a:p>
            <a:endParaRPr/>
          </a:p>
          <a:p>
            <a:r>
              <a:t>Sources</a:t>
            </a:r>
          </a:p>
          <a:p>
            <a:r>
              <a:t>SENIOR_CONSULTANT_PLAN_V1_2.txt: proposed process-owner pilot and metric definitions. Benefits are prospective.</a:t>
            </a:r>
          </a:p>
          <a:p>
            <a:r>
              <a:t>Training image: existing generated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group contribution is twenty-five percent each. [pause] Thank you.</a:t>
            </a:r>
          </a:p>
          <a:p>
            <a:endParaRPr/>
          </a:p>
          <a:p>
            <a:r>
              <a:t>Sources</a:t>
            </a:r>
          </a:p>
          <a:p>
            <a:r>
              <a:t>Lecturer’s original Groupwork Management Slide.pptx, required at the end of the A3 pitch.</a:t>
            </a:r>
          </a:p>
          <a:p>
            <a:r>
              <a:t>Names match Group XL workbook row 27. User supplied usernames and confirmed 25% contribution for each member on 2026-10-09. Total contribution: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2876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4F8414-7288-4B90-9806-E0B3D9F1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F7CFCC-34E8-4D64-A8E5-9629EB4A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AA5FE6C-9186-4D2C-ADCC-F1888A5B9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2D216CB-E42C-4B85-AA14-C4A7C3700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7E8746C-C846-43C9-AD29-FDC9ACD3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69AEDC1-5BF2-40BC-8E82-CEFC6605229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C835E2-F38C-4FE6-9F54-EB38A653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EAF2E56-C065-49E9-A0B8-2DB2BC6CE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7739-9F44-EFE6-C734-3D4975E9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2954"/>
            <a:ext cx="11430000" cy="2984500"/>
          </a:xfrm>
        </p:spPr>
        <p:txBody>
          <a:bodyPr anchor="b"/>
          <a:lstStyle>
            <a:lvl1pPr algn="ctr">
              <a:buNone/>
              <a:defRPr sz="75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8A32B-7D79-E9D1-310B-2329525B2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547"/>
            <a:ext cx="11430000" cy="2069703"/>
          </a:xfrm>
        </p:spPr>
        <p:txBody>
          <a:bodyPr/>
          <a:lstStyle>
            <a:lvl1pPr marL="0" indent="0" algn="ctr">
              <a:buNone/>
              <a:defRPr sz="3000"/>
            </a:lvl1pPr>
            <a:lvl2pPr marL="571500" indent="0" algn="ctr">
              <a:buNone/>
              <a:defRPr sz="2500"/>
            </a:lvl2pPr>
            <a:lvl3pPr marL="1143000" indent="0" algn="ctr">
              <a:buNone/>
              <a:defRPr sz="2250"/>
            </a:lvl3pPr>
            <a:lvl4pPr marL="1714500" indent="0" algn="ctr">
              <a:buNone/>
              <a:defRPr sz="2000"/>
            </a:lvl4pPr>
            <a:lvl5pPr marL="2286000" indent="0" algn="ctr">
              <a:buNone/>
              <a:defRPr sz="2000"/>
            </a:lvl5pPr>
            <a:lvl6pPr marL="2857500" indent="0" algn="ctr">
              <a:buNone/>
              <a:defRPr sz="2000"/>
            </a:lvl6pPr>
            <a:lvl7pPr marL="3429000" indent="0" algn="ctr">
              <a:buNone/>
              <a:defRPr sz="2000"/>
            </a:lvl7pPr>
            <a:lvl8pPr marL="4000500" indent="0" algn="ctr">
              <a:buNone/>
              <a:defRPr sz="2000"/>
            </a:lvl8pPr>
            <a:lvl9pPr marL="4572000" indent="0" algn="ctr">
              <a:buNone/>
              <a:defRPr sz="20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1EFF2-BBC1-B1EF-327A-373AEA2A4F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t>2026/10/9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3F5C-4CA4-98B3-C09B-E10652C487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4563-D3E5-3D60-D118-38170861D3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63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B5AEC0-10E4-4984-96C4-EE254003C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D6938045-69C9-4846-995B-4C41FD7A72A3}"/>
              </a:ext>
            </a:extLst>
          </p:cNvPr>
          <p:cNvSpPr>
            <a:spLocks noGrp="1"/>
          </p:cNvSpPr>
          <p:nvPr/>
        </p:nvSpPr>
        <p:spPr>
          <a:xfrm>
            <a:off x="800100" y="7239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AIR NEW ZEALAND SERVICE CONCEPT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DB495BF-FD06-4C1E-B035-7813CC4C2114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11239500" cy="179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AirAssist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E377A60-D536-41D3-A735-8A30E00080FA}"/>
              </a:ext>
            </a:extLst>
          </p:cNvPr>
          <p:cNvSpPr>
            <a:spLocks noGrp="1"/>
          </p:cNvSpPr>
          <p:nvPr/>
        </p:nvSpPr>
        <p:spPr>
          <a:xfrm>
            <a:off x="800100" y="4295775"/>
            <a:ext cx="10668000" cy="1924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 case</a:t>
            </a:r>
          </a:p>
          <a:p>
            <a:pPr algn="l">
              <a:buNone/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25274E8-2FDD-469F-BA92-6EF86E954C5D}"/>
              </a:ext>
            </a:extLst>
          </p:cNvPr>
          <p:cNvSpPr>
            <a:spLocks noGrp="1"/>
          </p:cNvSpPr>
          <p:nvPr/>
        </p:nvSpPr>
        <p:spPr>
          <a:xfrm>
            <a:off x="838200" y="7410450"/>
            <a:ext cx="1190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CCDAD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CCDA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ADB"/>
                </a:solidFill>
                <a:latin typeface="Arial"/>
                <a:ea typeface="Arial"/>
                <a:cs typeface="Arial"/>
              </a:rPr>
              <a:t>INFOSYS 704     SAP BUILD 19</a:t>
            </a:r>
          </a:p>
        </p:txBody>
      </p:sp>
    </p:spTree>
    <p:extLst>
      <p:ext uri="{BB962C8B-B14F-4D97-AF65-F5344CB8AC3E}">
        <p14:creationId xmlns:p14="http://schemas.microsoft.com/office/powerpoint/2010/main" val="1464255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75A658-6351-46D3-8501-E8DC250CC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42" r="9042"/>
          <a:stretch>
            <a:fillRect/>
          </a:stretch>
        </p:blipFill>
        <p:spPr>
          <a:xfrm>
            <a:off x="9620250" y="0"/>
            <a:ext cx="5619750" cy="8572500"/>
          </a:xfrm>
          <a:prstGeom prst="rect">
            <a:avLst/>
          </a:prstGeom>
        </p:spPr>
      </p:pic>
      <p:sp>
        <p:nvSpPr>
          <p:cNvPr id="2" name="text-5">
            <a:extLst>
              <a:ext uri="{FF2B5EF4-FFF2-40B4-BE49-F238E27FC236}">
                <a16:creationId xmlns:a16="http://schemas.microsoft.com/office/drawing/2014/main" id="{0C54587C-B658-43BC-9F10-05465B38CCBA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SITUATION</a:t>
            </a:r>
          </a:p>
        </p:txBody>
      </p:sp>
      <p:sp>
        <p:nvSpPr>
          <p:cNvPr id="3" name="text-6">
            <a:extLst>
              <a:ext uri="{FF2B5EF4-FFF2-40B4-BE49-F238E27FC236}">
                <a16:creationId xmlns:a16="http://schemas.microsoft.com/office/drawing/2014/main" id="{CDE673BD-29BB-40FB-9017-D17E0C008E90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809625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Direct-booking</a:t>
            </a:r>
          </a:p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refund requests</a:t>
            </a:r>
          </a:p>
        </p:txBody>
      </p:sp>
      <p:sp>
        <p:nvSpPr>
          <p:cNvPr id="4" name="text-7">
            <a:extLst>
              <a:ext uri="{FF2B5EF4-FFF2-40B4-BE49-F238E27FC236}">
                <a16:creationId xmlns:a16="http://schemas.microsoft.com/office/drawing/2014/main" id="{3C0EF0F7-B062-4C04-8B74-FB4645EEE353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8">
            <a:extLst>
              <a:ext uri="{FF2B5EF4-FFF2-40B4-BE49-F238E27FC236}">
                <a16:creationId xmlns:a16="http://schemas.microsoft.com/office/drawing/2014/main" id="{3542A682-72D4-4CC8-8FF0-3872E43634F5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80962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050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050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Direct bookings</a:t>
            </a:r>
          </a:p>
        </p:txBody>
      </p:sp>
      <p:sp>
        <p:nvSpPr>
          <p:cNvPr id="6" name="text-9">
            <a:extLst>
              <a:ext uri="{FF2B5EF4-FFF2-40B4-BE49-F238E27FC236}">
                <a16:creationId xmlns:a16="http://schemas.microsoft.com/office/drawing/2014/main" id="{D1DE2DF2-75ED-498C-B511-B0EB197C80F9}"/>
              </a:ext>
            </a:extLst>
          </p:cNvPr>
          <p:cNvSpPr>
            <a:spLocks noGrp="1"/>
          </p:cNvSpPr>
          <p:nvPr/>
        </p:nvSpPr>
        <p:spPr>
          <a:xfrm>
            <a:off x="800100" y="4267200"/>
            <a:ext cx="7524750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0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850" b="0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A3037"/>
                </a:solidFill>
                <a:latin typeface="Arial"/>
                <a:ea typeface="Arial"/>
                <a:cs typeface="Arial"/>
              </a:rPr>
              <a:t>A passenger submits a request.</a:t>
            </a:r>
          </a:p>
          <a:p>
            <a:pPr algn="l">
              <a:buNone/>
              <a:defRPr sz="2850" b="0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A3037"/>
                </a:solidFill>
                <a:latin typeface="Arial"/>
                <a:ea typeface="Arial"/>
                <a:cs typeface="Arial"/>
              </a:rPr>
              <a:t>A reviewer prepares the case.</a:t>
            </a:r>
          </a:p>
        </p:txBody>
      </p:sp>
      <p:sp>
        <p:nvSpPr>
          <p:cNvPr id="7" name="text-10">
            <a:extLst>
              <a:ext uri="{FF2B5EF4-FFF2-40B4-BE49-F238E27FC236}">
                <a16:creationId xmlns:a16="http://schemas.microsoft.com/office/drawing/2014/main" id="{E123A316-9A7F-4851-AAEA-21D952365ABE}"/>
              </a:ext>
            </a:extLst>
          </p:cNvPr>
          <p:cNvSpPr>
            <a:spLocks noGrp="1"/>
          </p:cNvSpPr>
          <p:nvPr/>
        </p:nvSpPr>
        <p:spPr>
          <a:xfrm>
            <a:off x="800100" y="6219825"/>
            <a:ext cx="78105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37477"/>
                </a:solidFill>
                <a:latin typeface="Arial"/>
                <a:ea typeface="Arial"/>
                <a:cs typeface="Arial"/>
              </a:rPr>
              <a:t>Agent bookings follow their</a:t>
            </a:r>
          </a:p>
          <a:p>
            <a:pPr algn="l">
              <a:buNone/>
              <a:defRPr sz="23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37477"/>
                </a:solidFill>
                <a:latin typeface="Arial"/>
                <a:ea typeface="Arial"/>
                <a:cs typeface="Arial"/>
              </a:rPr>
              <a:t>original booking channel.</a:t>
            </a:r>
          </a:p>
        </p:txBody>
      </p:sp>
      <p:sp>
        <p:nvSpPr>
          <p:cNvPr id="8" name="text-11">
            <a:extLst>
              <a:ext uri="{FF2B5EF4-FFF2-40B4-BE49-F238E27FC236}">
                <a16:creationId xmlns:a16="http://schemas.microsoft.com/office/drawing/2014/main" id="{A8B5B547-7D10-41E4-9C39-8C99523EFEEF}"/>
              </a:ext>
            </a:extLst>
          </p:cNvPr>
          <p:cNvSpPr>
            <a:spLocks noGrp="1"/>
          </p:cNvSpPr>
          <p:nvPr/>
        </p:nvSpPr>
        <p:spPr>
          <a:xfrm>
            <a:off x="800100" y="7781925"/>
            <a:ext cx="7810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Part of the wider disruption service</a:t>
            </a:r>
          </a:p>
        </p:txBody>
      </p:sp>
    </p:spTree>
    <p:extLst>
      <p:ext uri="{BB962C8B-B14F-4D97-AF65-F5344CB8AC3E}">
        <p14:creationId xmlns:p14="http://schemas.microsoft.com/office/powerpoint/2010/main" val="115529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EA9785-5A88-4311-B2B6-62AF8223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6" r="6266"/>
          <a:stretch>
            <a:fillRect/>
          </a:stretch>
        </p:blipFill>
        <p:spPr>
          <a:xfrm>
            <a:off x="9239250" y="0"/>
            <a:ext cx="6000750" cy="8572500"/>
          </a:xfrm>
          <a:prstGeom prst="rect">
            <a:avLst/>
          </a:prstGeom>
        </p:spPr>
      </p:pic>
      <p:sp>
        <p:nvSpPr>
          <p:cNvPr id="2" name="text-12">
            <a:extLst>
              <a:ext uri="{FF2B5EF4-FFF2-40B4-BE49-F238E27FC236}">
                <a16:creationId xmlns:a16="http://schemas.microsoft.com/office/drawing/2014/main" id="{597ABD4F-0150-48FB-BA5D-634D57CA3AB6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COMPLICATION</a:t>
            </a:r>
          </a:p>
        </p:txBody>
      </p:sp>
      <p:sp>
        <p:nvSpPr>
          <p:cNvPr id="3" name="text-13">
            <a:extLst>
              <a:ext uri="{FF2B5EF4-FFF2-40B4-BE49-F238E27FC236}">
                <a16:creationId xmlns:a16="http://schemas.microsoft.com/office/drawing/2014/main" id="{7ABCFE4D-B6AD-4E09-8BCA-AB65052E87A4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809625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 case</a:t>
            </a:r>
          </a:p>
          <a:p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4" name="text-14">
            <a:extLst>
              <a:ext uri="{FF2B5EF4-FFF2-40B4-BE49-F238E27FC236}">
                <a16:creationId xmlns:a16="http://schemas.microsoft.com/office/drawing/2014/main" id="{3E633AA6-42C4-4B4D-BBCA-9DF8C186A3B8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15">
            <a:extLst>
              <a:ext uri="{FF2B5EF4-FFF2-40B4-BE49-F238E27FC236}">
                <a16:creationId xmlns:a16="http://schemas.microsoft.com/office/drawing/2014/main" id="{812097ED-9CDC-48BA-9C31-C32DE9994487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150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150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Required fields already exist</a:t>
            </a:r>
          </a:p>
        </p:txBody>
      </p:sp>
      <p:sp>
        <p:nvSpPr>
          <p:cNvPr id="6" name="text-16">
            <a:extLst>
              <a:ext uri="{FF2B5EF4-FFF2-40B4-BE49-F238E27FC236}">
                <a16:creationId xmlns:a16="http://schemas.microsoft.com/office/drawing/2014/main" id="{E1A6FC61-00E1-456C-8988-C26E2F2E29DD}"/>
              </a:ext>
            </a:extLst>
          </p:cNvPr>
          <p:cNvSpPr>
            <a:spLocks noGrp="1"/>
          </p:cNvSpPr>
          <p:nvPr/>
        </p:nvSpPr>
        <p:spPr>
          <a:xfrm>
            <a:off x="800100" y="3895725"/>
            <a:ext cx="7572375" cy="1352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Wrong details can return for review.</a:t>
            </a:r>
          </a:p>
          <a:p>
            <a: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Complex cases need manual handling.</a:t>
            </a:r>
          </a:p>
        </p:txBody>
      </p:sp>
      <p:sp>
        <p:nvSpPr>
          <p:cNvPr id="7" name="text-17">
            <a:extLst>
              <a:ext uri="{FF2B5EF4-FFF2-40B4-BE49-F238E27FC236}">
                <a16:creationId xmlns:a16="http://schemas.microsoft.com/office/drawing/2014/main" id="{3C580187-A7E0-446E-B76A-1581300BC714}"/>
              </a:ext>
            </a:extLst>
          </p:cNvPr>
          <p:cNvSpPr>
            <a:spLocks noGrp="1"/>
          </p:cNvSpPr>
          <p:nvPr/>
        </p:nvSpPr>
        <p:spPr>
          <a:xfrm>
            <a:off x="800100" y="569595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REVIEW SUPPORT</a:t>
            </a:r>
          </a:p>
        </p:txBody>
      </p:sp>
      <p:sp>
        <p:nvSpPr>
          <p:cNvPr id="8" name="text-18">
            <a:extLst>
              <a:ext uri="{FF2B5EF4-FFF2-40B4-BE49-F238E27FC236}">
                <a16:creationId xmlns:a16="http://schemas.microsoft.com/office/drawing/2014/main" id="{24F9E737-12E0-4179-81FC-4CF01CE927B1}"/>
              </a:ext>
            </a:extLst>
          </p:cNvPr>
          <p:cNvSpPr>
            <a:spLocks noGrp="1"/>
          </p:cNvSpPr>
          <p:nvPr/>
        </p:nvSpPr>
        <p:spPr>
          <a:xfrm>
            <a:off x="800100" y="6286500"/>
            <a:ext cx="7762875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checks and a named</a:t>
            </a:r>
          </a:p>
          <a:p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 or specialist reviewer.</a:t>
            </a:r>
          </a:p>
        </p:txBody>
      </p:sp>
    </p:spTree>
    <p:extLst>
      <p:ext uri="{BB962C8B-B14F-4D97-AF65-F5344CB8AC3E}">
        <p14:creationId xmlns:p14="http://schemas.microsoft.com/office/powerpoint/2010/main" val="180349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20">
            <a:extLst>
              <a:ext uri="{FF2B5EF4-FFF2-40B4-BE49-F238E27FC236}">
                <a16:creationId xmlns:a16="http://schemas.microsoft.com/office/drawing/2014/main" id="{2EF69225-6275-4385-8738-203EB5206690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2" name="text-21">
            <a:extLst>
              <a:ext uri="{FF2B5EF4-FFF2-40B4-BE49-F238E27FC236}">
                <a16:creationId xmlns:a16="http://schemas.microsoft.com/office/drawing/2014/main" id="{F0195CCC-FDB0-4E58-86AD-0F1F9D48FA96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Implementation scope</a:t>
            </a:r>
          </a:p>
        </p:txBody>
      </p:sp>
      <p:sp>
        <p:nvSpPr>
          <p:cNvPr id="3" name="text-22">
            <a:extLst>
              <a:ext uri="{FF2B5EF4-FFF2-40B4-BE49-F238E27FC236}">
                <a16:creationId xmlns:a16="http://schemas.microsoft.com/office/drawing/2014/main" id="{2CB4A66A-2C74-4397-B6F1-F5D221E42D57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23">
            <a:extLst>
              <a:ext uri="{FF2B5EF4-FFF2-40B4-BE49-F238E27FC236}">
                <a16:creationId xmlns:a16="http://schemas.microsoft.com/office/drawing/2014/main" id="{4ABD2206-C48E-481C-8F88-B46A79181675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11906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Effort and expected impact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6154ED-2AEE-470F-8298-0FD8985D12CD}"/>
              </a:ext>
            </a:extLst>
          </p:cNvPr>
          <p:cNvGraphicFramePr/>
          <p:nvPr/>
        </p:nvGraphicFramePr>
        <p:xfrm>
          <a:off x="800100" y="3371850"/>
          <a:ext cx="13620750" cy="33147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Expected impact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Lower relative effort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Higher relative effort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Higher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75" b="1">
                          <a:solidFill>
                            <a:srgbClr val="173D3B"/>
                          </a:solidFill>
                          <a:latin typeface="Arial"/>
                          <a:ea typeface="Arial"/>
                          <a:cs typeface="Arial"/>
                        </a:rPr>
                        <a:t>Case preparation</a:t>
                      </a:r>
                    </a:p>
                    <a:p>
                      <a:pPr algn="l">
                        <a:buNone/>
                      </a:pPr>
                      <a:r>
                        <a:rPr sz="2475" b="1">
                          <a:solidFill>
                            <a:srgbClr val="173D3B"/>
                          </a:solidFill>
                          <a:latin typeface="Arial"/>
                          <a:ea typeface="Arial"/>
                          <a:cs typeface="Arial"/>
                        </a:rPr>
                        <a:t>Selected first</a:t>
                      </a:r>
                    </a:p>
                  </a:txBody>
                  <a:tcPr marL="171450" marR="171450" marT="76200" marB="76200" anchor="ctr">
                    <a:solidFill>
                      <a:srgbClr val="D6E6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Eligibility + settlement</a:t>
                      </a:r>
                    </a:p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Later integration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Form-only refresh</a:t>
                      </a:r>
                    </a:p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Limited handoff support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No option prioritised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-24">
            <a:extLst>
              <a:ext uri="{FF2B5EF4-FFF2-40B4-BE49-F238E27FC236}">
                <a16:creationId xmlns:a16="http://schemas.microsoft.com/office/drawing/2014/main" id="{01D1C8CD-390B-4D19-B772-74D4989D8DCE}"/>
              </a:ext>
            </a:extLst>
          </p:cNvPr>
          <p:cNvSpPr>
            <a:spLocks noGrp="1"/>
          </p:cNvSpPr>
          <p:nvPr/>
        </p:nvSpPr>
        <p:spPr>
          <a:xfrm>
            <a:off x="800100" y="7058025"/>
            <a:ext cx="1352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7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Case preparation comes first</a:t>
            </a:r>
          </a:p>
        </p:txBody>
      </p:sp>
      <p:sp>
        <p:nvSpPr>
          <p:cNvPr id="7" name="text-25">
            <a:extLst>
              <a:ext uri="{FF2B5EF4-FFF2-40B4-BE49-F238E27FC236}">
                <a16:creationId xmlns:a16="http://schemas.microsoft.com/office/drawing/2014/main" id="{A9027886-3C77-463A-B8D7-DB6B1A9015CA}"/>
              </a:ext>
            </a:extLst>
          </p:cNvPr>
          <p:cNvSpPr>
            <a:spLocks noGrp="1"/>
          </p:cNvSpPr>
          <p:nvPr/>
        </p:nvSpPr>
        <p:spPr>
          <a:xfrm>
            <a:off x="800100" y="7829550"/>
            <a:ext cx="13525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477"/>
                </a:solidFill>
                <a:latin typeface="Arial"/>
                <a:ea typeface="Arial"/>
                <a:cs typeface="Arial"/>
              </a:rPr>
              <a:t>Qualitative comparison of implementation options</a:t>
            </a:r>
          </a:p>
        </p:txBody>
      </p:sp>
    </p:spTree>
    <p:extLst>
      <p:ext uri="{BB962C8B-B14F-4D97-AF65-F5344CB8AC3E}">
        <p14:creationId xmlns:p14="http://schemas.microsoft.com/office/powerpoint/2010/main" val="109581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26">
            <a:extLst>
              <a:ext uri="{FF2B5EF4-FFF2-40B4-BE49-F238E27FC236}">
                <a16:creationId xmlns:a16="http://schemas.microsoft.com/office/drawing/2014/main" id="{4A5C10AA-F998-4F32-BD61-12738F61B4D2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2" name="text-27">
            <a:extLst>
              <a:ext uri="{FF2B5EF4-FFF2-40B4-BE49-F238E27FC236}">
                <a16:creationId xmlns:a16="http://schemas.microsoft.com/office/drawing/2014/main" id="{F8DF3871-6AC3-4516-9F05-A5FCCA76EB0B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Thinking</a:t>
            </a:r>
          </a:p>
        </p:txBody>
      </p:sp>
      <p:sp>
        <p:nvSpPr>
          <p:cNvPr id="3" name="text-28">
            <a:extLst>
              <a:ext uri="{FF2B5EF4-FFF2-40B4-BE49-F238E27FC236}">
                <a16:creationId xmlns:a16="http://schemas.microsoft.com/office/drawing/2014/main" id="{E14C148E-F5DE-4832-B49E-4951DFBE384C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29">
            <a:extLst>
              <a:ext uri="{FF2B5EF4-FFF2-40B4-BE49-F238E27FC236}">
                <a16:creationId xmlns:a16="http://schemas.microsoft.com/office/drawing/2014/main" id="{BBE82ED6-646F-4F89-A7A3-FC095A950BD5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01  Empathise</a:t>
            </a:r>
          </a:p>
        </p:txBody>
      </p:sp>
      <p:sp>
        <p:nvSpPr>
          <p:cNvPr id="5" name="text-30">
            <a:extLst>
              <a:ext uri="{FF2B5EF4-FFF2-40B4-BE49-F238E27FC236}">
                <a16:creationId xmlns:a16="http://schemas.microsoft.com/office/drawing/2014/main" id="{AA69B982-E449-459F-B113-BE605A51D172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6238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Earlier staff input</a:t>
            </a:r>
          </a:p>
        </p:txBody>
      </p:sp>
      <p:sp>
        <p:nvSpPr>
          <p:cNvPr id="6" name="text-31">
            <a:extLst>
              <a:ext uri="{FF2B5EF4-FFF2-40B4-BE49-F238E27FC236}">
                <a16:creationId xmlns:a16="http://schemas.microsoft.com/office/drawing/2014/main" id="{EC698773-4FC8-4AA5-9847-BA52518C1CF4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02  Define</a:t>
            </a:r>
          </a:p>
        </p:txBody>
      </p:sp>
      <p:sp>
        <p:nvSpPr>
          <p:cNvPr id="7" name="text-32">
            <a:extLst>
              <a:ext uri="{FF2B5EF4-FFF2-40B4-BE49-F238E27FC236}">
                <a16:creationId xmlns:a16="http://schemas.microsoft.com/office/drawing/2014/main" id="{D6FFB9AE-A09F-40DA-A03C-669FFBE6ADC2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6238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evidence and ownership</a:t>
            </a:r>
          </a:p>
        </p:txBody>
      </p:sp>
      <p:sp>
        <p:nvSpPr>
          <p:cNvPr id="8" name="text-33">
            <a:extLst>
              <a:ext uri="{FF2B5EF4-FFF2-40B4-BE49-F238E27FC236}">
                <a16:creationId xmlns:a16="http://schemas.microsoft.com/office/drawing/2014/main" id="{3BB2D468-BBEB-4A07-B2E5-8977284727BD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03  Ideate</a:t>
            </a:r>
          </a:p>
        </p:txBody>
      </p:sp>
      <p:sp>
        <p:nvSpPr>
          <p:cNvPr id="9" name="text-34">
            <a:extLst>
              <a:ext uri="{FF2B5EF4-FFF2-40B4-BE49-F238E27FC236}">
                <a16:creationId xmlns:a16="http://schemas.microsoft.com/office/drawing/2014/main" id="{F7E39002-DC1F-48CF-9984-04B765FD9091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6238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scope and effort</a:t>
            </a:r>
          </a:p>
        </p:txBody>
      </p:sp>
      <p:sp>
        <p:nvSpPr>
          <p:cNvPr id="10" name="text-35">
            <a:extLst>
              <a:ext uri="{FF2B5EF4-FFF2-40B4-BE49-F238E27FC236}">
                <a16:creationId xmlns:a16="http://schemas.microsoft.com/office/drawing/2014/main" id="{99F9552C-67F0-4BE9-8023-FE52265E0BAF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04  Prototype</a:t>
            </a:r>
          </a:p>
        </p:txBody>
      </p:sp>
      <p:sp>
        <p:nvSpPr>
          <p:cNvPr id="11" name="text-36">
            <a:extLst>
              <a:ext uri="{FF2B5EF4-FFF2-40B4-BE49-F238E27FC236}">
                <a16:creationId xmlns:a16="http://schemas.microsoft.com/office/drawing/2014/main" id="{672ECB22-87E2-45DE-8E5A-68052659A913}"/>
              </a:ext>
            </a:extLst>
          </p:cNvPr>
          <p:cNvSpPr>
            <a:spLocks noGrp="1"/>
          </p:cNvSpPr>
          <p:nvPr/>
        </p:nvSpPr>
        <p:spPr>
          <a:xfrm>
            <a:off x="800100" y="5943600"/>
            <a:ext cx="6238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Request, review and tracking</a:t>
            </a:r>
          </a:p>
        </p:txBody>
      </p:sp>
      <p:sp>
        <p:nvSpPr>
          <p:cNvPr id="12" name="text-37">
            <a:extLst>
              <a:ext uri="{FF2B5EF4-FFF2-40B4-BE49-F238E27FC236}">
                <a16:creationId xmlns:a16="http://schemas.microsoft.com/office/drawing/2014/main" id="{E75E3C5D-3438-43FC-87EC-6D87121C6682}"/>
              </a:ext>
            </a:extLst>
          </p:cNvPr>
          <p:cNvSpPr>
            <a:spLocks noGrp="1"/>
          </p:cNvSpPr>
          <p:nvPr/>
        </p:nvSpPr>
        <p:spPr>
          <a:xfrm>
            <a:off x="800100" y="64579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05  Test</a:t>
            </a:r>
          </a:p>
        </p:txBody>
      </p:sp>
      <p:sp>
        <p:nvSpPr>
          <p:cNvPr id="13" name="text-38">
            <a:extLst>
              <a:ext uri="{FF2B5EF4-FFF2-40B4-BE49-F238E27FC236}">
                <a16:creationId xmlns:a16="http://schemas.microsoft.com/office/drawing/2014/main" id="{DCF0C215-98BA-4878-854A-01BF6E36429A}"/>
              </a:ext>
            </a:extLst>
          </p:cNvPr>
          <p:cNvSpPr>
            <a:spLocks noGrp="1"/>
          </p:cNvSpPr>
          <p:nvPr/>
        </p:nvSpPr>
        <p:spPr>
          <a:xfrm>
            <a:off x="800100" y="6877050"/>
            <a:ext cx="6238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Feedback and developer checks</a:t>
            </a:r>
          </a:p>
        </p:txBody>
      </p:sp>
      <p:sp>
        <p:nvSpPr>
          <p:cNvPr id="14" name="text-39">
            <a:extLst>
              <a:ext uri="{FF2B5EF4-FFF2-40B4-BE49-F238E27FC236}">
                <a16:creationId xmlns:a16="http://schemas.microsoft.com/office/drawing/2014/main" id="{485D3C8A-1738-4EA3-8EF5-1C8A92864D6C}"/>
              </a:ext>
            </a:extLst>
          </p:cNvPr>
          <p:cNvSpPr>
            <a:spLocks noGrp="1"/>
          </p:cNvSpPr>
          <p:nvPr/>
        </p:nvSpPr>
        <p:spPr>
          <a:xfrm>
            <a:off x="7924800" y="2771775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6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6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Review-page revision</a:t>
            </a:r>
          </a:p>
        </p:txBody>
      </p:sp>
      <p:sp>
        <p:nvSpPr>
          <p:cNvPr id="15" name="text-40">
            <a:extLst>
              <a:ext uri="{FF2B5EF4-FFF2-40B4-BE49-F238E27FC236}">
                <a16:creationId xmlns:a16="http://schemas.microsoft.com/office/drawing/2014/main" id="{F8B57653-686B-44CC-8EB7-24206A724F6D}"/>
              </a:ext>
            </a:extLst>
          </p:cNvPr>
          <p:cNvSpPr>
            <a:spLocks noGrp="1"/>
          </p:cNvSpPr>
          <p:nvPr/>
        </p:nvSpPr>
        <p:spPr>
          <a:xfrm>
            <a:off x="7924800" y="3705225"/>
            <a:ext cx="61912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C7D6D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C7D6D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D6D0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6" name="text-41">
            <a:extLst>
              <a:ext uri="{FF2B5EF4-FFF2-40B4-BE49-F238E27FC236}">
                <a16:creationId xmlns:a16="http://schemas.microsoft.com/office/drawing/2014/main" id="{3AD28BCB-E882-4D02-88A3-BA414876DE09}"/>
              </a:ext>
            </a:extLst>
          </p:cNvPr>
          <p:cNvSpPr>
            <a:spLocks noGrp="1"/>
          </p:cNvSpPr>
          <p:nvPr/>
        </p:nvSpPr>
        <p:spPr>
          <a:xfrm>
            <a:off x="7924800" y="412432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long review page separates</a:t>
            </a:r>
          </a:p>
          <a:p>
            <a:pPr algn="l">
              <a:buNone/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from the next action.</a:t>
            </a:r>
          </a:p>
        </p:txBody>
      </p:sp>
      <p:sp>
        <p:nvSpPr>
          <p:cNvPr id="17" name="text-42">
            <a:extLst>
              <a:ext uri="{FF2B5EF4-FFF2-40B4-BE49-F238E27FC236}">
                <a16:creationId xmlns:a16="http://schemas.microsoft.com/office/drawing/2014/main" id="{D32081CC-A2D7-42D7-B5F8-C43E186B8694}"/>
              </a:ext>
            </a:extLst>
          </p:cNvPr>
          <p:cNvSpPr>
            <a:spLocks noGrp="1"/>
          </p:cNvSpPr>
          <p:nvPr/>
        </p:nvSpPr>
        <p:spPr>
          <a:xfrm>
            <a:off x="7924800" y="5353050"/>
            <a:ext cx="61912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C7D6D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C7D6D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D6D0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8" name="text-43">
            <a:extLst>
              <a:ext uri="{FF2B5EF4-FFF2-40B4-BE49-F238E27FC236}">
                <a16:creationId xmlns:a16="http://schemas.microsoft.com/office/drawing/2014/main" id="{DED14690-CA51-4AF3-BA52-394845AA19B9}"/>
              </a:ext>
            </a:extLst>
          </p:cNvPr>
          <p:cNvSpPr>
            <a:spLocks noGrp="1"/>
          </p:cNvSpPr>
          <p:nvPr/>
        </p:nvSpPr>
        <p:spPr>
          <a:xfrm>
            <a:off x="7924800" y="5772150"/>
            <a:ext cx="61912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Checks and actions together.</a:t>
            </a:r>
          </a:p>
          <a:p>
            <a:pPr algn="l">
              <a:buNone/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Secondary context opens on demand.</a:t>
            </a:r>
          </a:p>
        </p:txBody>
      </p:sp>
      <p:sp>
        <p:nvSpPr>
          <p:cNvPr id="19" name="text-44">
            <a:extLst>
              <a:ext uri="{FF2B5EF4-FFF2-40B4-BE49-F238E27FC236}">
                <a16:creationId xmlns:a16="http://schemas.microsoft.com/office/drawing/2014/main" id="{13BDDFE1-13A2-4A9E-AF93-75AE6228A3B3}"/>
              </a:ext>
            </a:extLst>
          </p:cNvPr>
          <p:cNvSpPr>
            <a:spLocks noGrp="1"/>
          </p:cNvSpPr>
          <p:nvPr/>
        </p:nvSpPr>
        <p:spPr>
          <a:xfrm>
            <a:off x="7924800" y="6972300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C7D6D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C7D6D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D6D0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0" name="text-45">
            <a:extLst>
              <a:ext uri="{FF2B5EF4-FFF2-40B4-BE49-F238E27FC236}">
                <a16:creationId xmlns:a16="http://schemas.microsoft.com/office/drawing/2014/main" id="{F6461E0F-4816-4A74-9E4B-C20BA5CC0DB8}"/>
              </a:ext>
            </a:extLst>
          </p:cNvPr>
          <p:cNvSpPr>
            <a:spLocks noGrp="1"/>
          </p:cNvSpPr>
          <p:nvPr/>
        </p:nvSpPr>
        <p:spPr>
          <a:xfrm>
            <a:off x="7924800" y="7381875"/>
            <a:ext cx="61912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handoff and draft recovery</a:t>
            </a:r>
          </a:p>
        </p:txBody>
      </p:sp>
    </p:spTree>
    <p:extLst>
      <p:ext uri="{BB962C8B-B14F-4D97-AF65-F5344CB8AC3E}">
        <p14:creationId xmlns:p14="http://schemas.microsoft.com/office/powerpoint/2010/main" val="1298235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47">
            <a:extLst>
              <a:ext uri="{FF2B5EF4-FFF2-40B4-BE49-F238E27FC236}">
                <a16:creationId xmlns:a16="http://schemas.microsoft.com/office/drawing/2014/main" id="{BB67E5F3-AE00-4777-B12C-704ACC2241DD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API ADAPTATION</a:t>
            </a:r>
          </a:p>
        </p:txBody>
      </p:sp>
      <p:sp>
        <p:nvSpPr>
          <p:cNvPr id="2" name="text-48">
            <a:extLst>
              <a:ext uri="{FF2B5EF4-FFF2-40B4-BE49-F238E27FC236}">
                <a16:creationId xmlns:a16="http://schemas.microsoft.com/office/drawing/2014/main" id="{71D3EB4E-34CB-45EC-A74A-68063572A461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What changed for A3</a:t>
            </a:r>
          </a:p>
        </p:txBody>
      </p:sp>
      <p:sp>
        <p:nvSpPr>
          <p:cNvPr id="3" name="text-49">
            <a:extLst>
              <a:ext uri="{FF2B5EF4-FFF2-40B4-BE49-F238E27FC236}">
                <a16:creationId xmlns:a16="http://schemas.microsoft.com/office/drawing/2014/main" id="{8E1CE25F-5913-4BA7-BA6E-EEFAD6A71986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50">
            <a:extLst>
              <a:ext uri="{FF2B5EF4-FFF2-40B4-BE49-F238E27FC236}">
                <a16:creationId xmlns:a16="http://schemas.microsoft.com/office/drawing/2014/main" id="{E8A5F671-13F9-44CC-9620-B699210775C1}"/>
              </a:ext>
            </a:extLst>
          </p:cNvPr>
          <p:cNvSpPr>
            <a:spLocks noGrp="1"/>
          </p:cNvSpPr>
          <p:nvPr/>
        </p:nvSpPr>
        <p:spPr>
          <a:xfrm>
            <a:off x="800100" y="2676525"/>
            <a:ext cx="13049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00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700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Option 2: SAP partly supports the proposed solution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6CF11C-9AB6-4E01-ADEF-91D2D7B76FD3}"/>
              </a:ext>
            </a:extLst>
          </p:cNvPr>
          <p:cNvGraphicFramePr/>
          <p:nvPr/>
        </p:nvGraphicFramePr>
        <p:xfrm>
          <a:off x="800100" y="3533775"/>
          <a:ext cx="13620750" cy="35814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5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Individual A2 proposal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Group A3 prototype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Booking context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Reuse airline records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Synthetic journey fixtures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Prepared case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Missing information and review paths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Saved checklist, named queue and handoff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Financial context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Connected payment evidence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Read-only SAP financial reference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51">
            <a:extLst>
              <a:ext uri="{FF2B5EF4-FFF2-40B4-BE49-F238E27FC236}">
                <a16:creationId xmlns:a16="http://schemas.microsoft.com/office/drawing/2014/main" id="{7916658C-04F8-4DF6-A499-0DEA3ABEC530}"/>
              </a:ext>
            </a:extLst>
          </p:cNvPr>
          <p:cNvSpPr>
            <a:spLocks noGrp="1"/>
          </p:cNvSpPr>
          <p:nvPr/>
        </p:nvSpPr>
        <p:spPr>
          <a:xfrm>
            <a:off x="800100" y="7639050"/>
            <a:ext cx="1347787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62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62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Staff make the final refund decision</a:t>
            </a:r>
          </a:p>
        </p:txBody>
      </p:sp>
    </p:spTree>
    <p:extLst>
      <p:ext uri="{BB962C8B-B14F-4D97-AF65-F5344CB8AC3E}">
        <p14:creationId xmlns:p14="http://schemas.microsoft.com/office/powerpoint/2010/main" val="1053691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52">
            <a:extLst>
              <a:ext uri="{FF2B5EF4-FFF2-40B4-BE49-F238E27FC236}">
                <a16:creationId xmlns:a16="http://schemas.microsoft.com/office/drawing/2014/main" id="{BBDDF4D9-5026-4D49-994D-0682FABE709D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SAP INTEGRATION</a:t>
            </a:r>
          </a:p>
        </p:txBody>
      </p:sp>
      <p:sp>
        <p:nvSpPr>
          <p:cNvPr id="2" name="text-53">
            <a:extLst>
              <a:ext uri="{FF2B5EF4-FFF2-40B4-BE49-F238E27FC236}">
                <a16:creationId xmlns:a16="http://schemas.microsoft.com/office/drawing/2014/main" id="{E4BBA245-C7E3-49A5-BE63-BF3BC5A63023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SAP financial reference</a:t>
            </a:r>
          </a:p>
        </p:txBody>
      </p:sp>
      <p:sp>
        <p:nvSpPr>
          <p:cNvPr id="3" name="text-54">
            <a:extLst>
              <a:ext uri="{FF2B5EF4-FFF2-40B4-BE49-F238E27FC236}">
                <a16:creationId xmlns:a16="http://schemas.microsoft.com/office/drawing/2014/main" id="{51716BB2-9780-4A93-8E28-902A99143C5D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55">
            <a:extLst>
              <a:ext uri="{FF2B5EF4-FFF2-40B4-BE49-F238E27FC236}">
                <a16:creationId xmlns:a16="http://schemas.microsoft.com/office/drawing/2014/main" id="{BEA18459-25F5-401D-9889-48B9094B8433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13525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7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7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Credit Memo Request (A2X)</a:t>
            </a:r>
          </a:p>
        </p:txBody>
      </p:sp>
      <p:sp>
        <p:nvSpPr>
          <p:cNvPr id="5" name="text-56">
            <a:extLst>
              <a:ext uri="{FF2B5EF4-FFF2-40B4-BE49-F238E27FC236}">
                <a16:creationId xmlns:a16="http://schemas.microsoft.com/office/drawing/2014/main" id="{5BCCCA2F-EE0D-4FDC-A462-F25AEC5F293B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13525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Saved reference, source and capture time</a:t>
            </a:r>
          </a:p>
        </p:txBody>
      </p:sp>
      <p:sp>
        <p:nvSpPr>
          <p:cNvPr id="9" name="text-59">
            <a:extLst>
              <a:ext uri="{FF2B5EF4-FFF2-40B4-BE49-F238E27FC236}">
                <a16:creationId xmlns:a16="http://schemas.microsoft.com/office/drawing/2014/main" id="{3755BC0F-CA15-4A3F-BA5B-6D9F28E15CCC}"/>
              </a:ext>
            </a:extLst>
          </p:cNvPr>
          <p:cNvSpPr>
            <a:spLocks noGrp="1"/>
          </p:cNvSpPr>
          <p:nvPr/>
        </p:nvSpPr>
        <p:spPr>
          <a:xfrm>
            <a:off x="800100" y="8096250"/>
            <a:ext cx="13620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0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37477"/>
                </a:solidFill>
                <a:latin typeface="Arial"/>
                <a:ea typeface="Arial"/>
                <a:cs typeface="Arial"/>
              </a:rPr>
              <a:t>SAP public sandbox. Booking and payment checks remain manual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CC4F03A-01D7-4E24-AF26-E6A98D442806}"/>
              </a:ext>
            </a:extLst>
          </p:cNvPr>
          <p:cNvGraphicFramePr/>
          <p:nvPr/>
        </p:nvGraphicFramePr>
        <p:xfrm>
          <a:off x="800100" y="3952875"/>
          <a:ext cx="13620750" cy="342900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SAP field</a:t>
                      </a:r>
                    </a:p>
                  </a:txBody>
                  <a:tcPr marL="171450" marR="171450" marT="57150" marB="57150" anchor="ctr"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Saved response</a:t>
                      </a:r>
                    </a:p>
                  </a:txBody>
                  <a:tcPr marL="171450" marR="171450" marT="57150" marB="57150" anchor="ctr">
                    <a:solidFill>
                      <a:srgbClr val="EA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Document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60000002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Net amount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USD 1,000.00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Preceding document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60000001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Process code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C · raw code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Approval code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Not supplied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CBA201C-D557-4713-8F0C-4F3AE0045905}"/>
              </a:ext>
            </a:extLst>
          </p:cNvPr>
          <p:cNvSpPr>
            <a:spLocks noGrp="1"/>
          </p:cNvSpPr>
          <p:nvPr/>
        </p:nvSpPr>
        <p:spPr>
          <a:xfrm>
            <a:off x="800100" y="7648575"/>
            <a:ext cx="13620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6374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37477"/>
                </a:solidFill>
                <a:latin typeface="Arial"/>
                <a:ea typeface="Arial"/>
                <a:cs typeface="Arial"/>
              </a:rPr>
              <a:t>Read-only GET · Captured 9 Oct 2026, 12:35 pm</a:t>
            </a:r>
          </a:p>
        </p:txBody>
      </p:sp>
    </p:spTree>
    <p:extLst>
      <p:ext uri="{BB962C8B-B14F-4D97-AF65-F5344CB8AC3E}">
        <p14:creationId xmlns:p14="http://schemas.microsoft.com/office/powerpoint/2010/main" val="1765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60">
            <a:extLst>
              <a:ext uri="{FF2B5EF4-FFF2-40B4-BE49-F238E27FC236}">
                <a16:creationId xmlns:a16="http://schemas.microsoft.com/office/drawing/2014/main" id="{5AC0849E-810E-4A85-80D7-B1C8F2B21F6D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  <p:sp>
        <p:nvSpPr>
          <p:cNvPr id="2" name="text-61">
            <a:extLst>
              <a:ext uri="{FF2B5EF4-FFF2-40B4-BE49-F238E27FC236}">
                <a16:creationId xmlns:a16="http://schemas.microsoft.com/office/drawing/2014/main" id="{ABBFECFB-F55A-44F9-8E39-13F803DCFBC3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From request to handoff</a:t>
            </a:r>
          </a:p>
        </p:txBody>
      </p:sp>
      <p:sp>
        <p:nvSpPr>
          <p:cNvPr id="3" name="text-62">
            <a:extLst>
              <a:ext uri="{FF2B5EF4-FFF2-40B4-BE49-F238E27FC236}">
                <a16:creationId xmlns:a16="http://schemas.microsoft.com/office/drawing/2014/main" id="{C10FAC6D-A21D-42E6-AFE2-411D8F4679B2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64">
            <a:extLst>
              <a:ext uri="{FF2B5EF4-FFF2-40B4-BE49-F238E27FC236}">
                <a16:creationId xmlns:a16="http://schemas.microsoft.com/office/drawing/2014/main" id="{9F6E7AB3-41D7-4A47-9A62-6ADCFC2F817F}"/>
              </a:ext>
            </a:extLst>
          </p:cNvPr>
          <p:cNvSpPr>
            <a:spLocks noGrp="1"/>
          </p:cNvSpPr>
          <p:nvPr/>
        </p:nvSpPr>
        <p:spPr>
          <a:xfrm>
            <a:off x="800100" y="3381375"/>
            <a:ext cx="32575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01  Saved request</a:t>
            </a:r>
          </a:p>
        </p:txBody>
      </p:sp>
      <p:sp>
        <p:nvSpPr>
          <p:cNvPr id="6" name="text-65">
            <a:extLst>
              <a:ext uri="{FF2B5EF4-FFF2-40B4-BE49-F238E27FC236}">
                <a16:creationId xmlns:a16="http://schemas.microsoft.com/office/drawing/2014/main" id="{AF352771-BE1F-4F52-B523-37187480D0AE}"/>
              </a:ext>
            </a:extLst>
          </p:cNvPr>
          <p:cNvSpPr>
            <a:spLocks noGrp="1"/>
          </p:cNvSpPr>
          <p:nvPr/>
        </p:nvSpPr>
        <p:spPr>
          <a:xfrm>
            <a:off x="4210050" y="3381375"/>
            <a:ext cx="32575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02  SAP reference</a:t>
            </a:r>
          </a:p>
        </p:txBody>
      </p:sp>
      <p:sp>
        <p:nvSpPr>
          <p:cNvPr id="7" name="text-66">
            <a:extLst>
              <a:ext uri="{FF2B5EF4-FFF2-40B4-BE49-F238E27FC236}">
                <a16:creationId xmlns:a16="http://schemas.microsoft.com/office/drawing/2014/main" id="{79243733-2A0F-4C6D-8970-C9A7C354E46A}"/>
              </a:ext>
            </a:extLst>
          </p:cNvPr>
          <p:cNvSpPr>
            <a:spLocks noGrp="1"/>
          </p:cNvSpPr>
          <p:nvPr/>
        </p:nvSpPr>
        <p:spPr>
          <a:xfrm>
            <a:off x="7620000" y="3381375"/>
            <a:ext cx="32575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03  Review and handoff</a:t>
            </a:r>
          </a:p>
        </p:txBody>
      </p:sp>
      <p:sp>
        <p:nvSpPr>
          <p:cNvPr id="8" name="text-67">
            <a:extLst>
              <a:ext uri="{FF2B5EF4-FFF2-40B4-BE49-F238E27FC236}">
                <a16:creationId xmlns:a16="http://schemas.microsoft.com/office/drawing/2014/main" id="{05ED4FD5-7F07-46C5-A7DB-08B13D31FEE9}"/>
              </a:ext>
            </a:extLst>
          </p:cNvPr>
          <p:cNvSpPr>
            <a:spLocks noGrp="1"/>
          </p:cNvSpPr>
          <p:nvPr/>
        </p:nvSpPr>
        <p:spPr>
          <a:xfrm>
            <a:off x="11029950" y="3381375"/>
            <a:ext cx="32575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04  Status and receipt</a:t>
            </a:r>
          </a:p>
        </p:txBody>
      </p:sp>
      <p:sp>
        <p:nvSpPr>
          <p:cNvPr id="9" name="text-68">
            <a:extLst>
              <a:ext uri="{FF2B5EF4-FFF2-40B4-BE49-F238E27FC236}">
                <a16:creationId xmlns:a16="http://schemas.microsoft.com/office/drawing/2014/main" id="{DCC6A1AE-058A-4918-8051-350CD60D5395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61912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7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Initial review state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AD27A1-BCAD-4CCE-8C3B-8E59441705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22" t="73678" r="8142" b="18898"/>
          <a:stretch/>
        </p:blipFill>
        <p:spPr>
          <a:xfrm>
            <a:off x="800100" y="4895850"/>
            <a:ext cx="13601700" cy="1282446"/>
          </a:xfrm>
          <a:prstGeom prst="rect">
            <a:avLst/>
          </a:prstGeom>
        </p:spPr>
      </p:pic>
      <p:sp>
        <p:nvSpPr>
          <p:cNvPr id="11" name="text-69">
            <a:extLst>
              <a:ext uri="{FF2B5EF4-FFF2-40B4-BE49-F238E27FC236}">
                <a16:creationId xmlns:a16="http://schemas.microsoft.com/office/drawing/2014/main" id="{623C9942-A582-4138-A3E9-86EB5103D1F3}"/>
              </a:ext>
            </a:extLst>
          </p:cNvPr>
          <p:cNvSpPr>
            <a:spLocks noGrp="1"/>
          </p:cNvSpPr>
          <p:nvPr/>
        </p:nvSpPr>
        <p:spPr>
          <a:xfrm>
            <a:off x="800100" y="63817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75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Saved review state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5F9FC-80BF-473B-96DE-B1B2706883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88" t="71939" r="7578" b="24106"/>
          <a:stretch/>
        </p:blipFill>
        <p:spPr>
          <a:xfrm>
            <a:off x="800100" y="6991350"/>
            <a:ext cx="13601700" cy="140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3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70">
            <a:extLst>
              <a:ext uri="{FF2B5EF4-FFF2-40B4-BE49-F238E27FC236}">
                <a16:creationId xmlns:a16="http://schemas.microsoft.com/office/drawing/2014/main" id="{2D08C35B-2CA2-4CF4-A078-CE3168A45A27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SERVICE RECOVERY</a:t>
            </a:r>
          </a:p>
        </p:txBody>
      </p:sp>
      <p:sp>
        <p:nvSpPr>
          <p:cNvPr id="2" name="text-71">
            <a:extLst>
              <a:ext uri="{FF2B5EF4-FFF2-40B4-BE49-F238E27FC236}">
                <a16:creationId xmlns:a16="http://schemas.microsoft.com/office/drawing/2014/main" id="{B2DE2245-7DE4-4EAE-A2C1-DDC5374D6BB8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status and recovery</a:t>
            </a:r>
          </a:p>
        </p:txBody>
      </p:sp>
      <p:sp>
        <p:nvSpPr>
          <p:cNvPr id="3" name="text-72">
            <a:extLst>
              <a:ext uri="{FF2B5EF4-FFF2-40B4-BE49-F238E27FC236}">
                <a16:creationId xmlns:a16="http://schemas.microsoft.com/office/drawing/2014/main" id="{03925AE1-466B-4A69-B95D-028811617CDE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73">
            <a:extLst>
              <a:ext uri="{FF2B5EF4-FFF2-40B4-BE49-F238E27FC236}">
                <a16:creationId xmlns:a16="http://schemas.microsoft.com/office/drawing/2014/main" id="{8647A43C-4E63-4883-BC7D-860ED4E04E67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7858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status beside the next action</a:t>
            </a:r>
          </a:p>
        </p:txBody>
      </p:sp>
      <p:sp>
        <p:nvSpPr>
          <p:cNvPr id="5" name="text-74">
            <a:extLst>
              <a:ext uri="{FF2B5EF4-FFF2-40B4-BE49-F238E27FC236}">
                <a16:creationId xmlns:a16="http://schemas.microsoft.com/office/drawing/2014/main" id="{12EBD03A-1B52-4E5C-9CBE-3AE25B89F58C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719137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D3DED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0">
                <a:solidFill>
                  <a:srgbClr val="D3DED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3DEDB"/>
                </a:solidFill>
                <a:latin typeface="Arial"/>
                <a:ea typeface="Arial"/>
                <a:cs typeface="Arial"/>
              </a:rPr>
              <a:t>Draft recovery preserves</a:t>
            </a:r>
          </a:p>
          <a:p>
            <a:pPr algn="l">
              <a:buNone/>
              <a:defRPr sz="2550" b="0">
                <a:solidFill>
                  <a:srgbClr val="D3DED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3DEDB"/>
                </a:solidFill>
                <a:latin typeface="Arial"/>
                <a:ea typeface="Arial"/>
                <a:cs typeface="Arial"/>
              </a:rPr>
              <a:t>unfinished review work.</a:t>
            </a:r>
          </a:p>
        </p:txBody>
      </p:sp>
      <p:sp>
        <p:nvSpPr>
          <p:cNvPr id="6" name="text-75">
            <a:extLst>
              <a:ext uri="{FF2B5EF4-FFF2-40B4-BE49-F238E27FC236}">
                <a16:creationId xmlns:a16="http://schemas.microsoft.com/office/drawing/2014/main" id="{8A10AAD7-CB01-4008-99C1-4A846942021B}"/>
              </a:ext>
            </a:extLst>
          </p:cNvPr>
          <p:cNvSpPr>
            <a:spLocks noGrp="1"/>
          </p:cNvSpPr>
          <p:nvPr/>
        </p:nvSpPr>
        <p:spPr>
          <a:xfrm>
            <a:off x="800100" y="6115050"/>
            <a:ext cx="719137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D3DED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0">
                <a:solidFill>
                  <a:srgbClr val="D3DED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3DEDB"/>
                </a:solidFill>
                <a:latin typeface="Arial"/>
                <a:ea typeface="Arial"/>
                <a:cs typeface="Arial"/>
              </a:rPr>
              <a:t>Version warnings prevent</a:t>
            </a:r>
          </a:p>
          <a:p>
            <a:pPr algn="l">
              <a:buNone/>
              <a:defRPr sz="2550" b="0">
                <a:solidFill>
                  <a:srgbClr val="D3DED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3DEDB"/>
                </a:solidFill>
                <a:latin typeface="Arial"/>
                <a:ea typeface="Arial"/>
                <a:cs typeface="Arial"/>
              </a:rPr>
              <a:t>silent overwrites.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B5DBA-F615-4CA3-AE55-698D8581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0" t="7512" r="6400" b="31404"/>
          <a:stretch/>
        </p:blipFill>
        <p:spPr>
          <a:xfrm>
            <a:off x="9906000" y="2647950"/>
            <a:ext cx="3905250" cy="5715000"/>
          </a:xfrm>
          <a:prstGeom prst="rect">
            <a:avLst/>
          </a:prstGeom>
        </p:spPr>
      </p:pic>
      <p:sp>
        <p:nvSpPr>
          <p:cNvPr id="8" name="text-76">
            <a:extLst>
              <a:ext uri="{FF2B5EF4-FFF2-40B4-BE49-F238E27FC236}">
                <a16:creationId xmlns:a16="http://schemas.microsoft.com/office/drawing/2014/main" id="{174AC0FB-3350-4939-B071-21C72E797186}"/>
              </a:ext>
            </a:extLst>
          </p:cNvPr>
          <p:cNvSpPr>
            <a:spLocks noGrp="1"/>
          </p:cNvSpPr>
          <p:nvPr/>
        </p:nvSpPr>
        <p:spPr>
          <a:xfrm>
            <a:off x="800100" y="7734300"/>
            <a:ext cx="79533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025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Optional context opens when staff need it.</a:t>
            </a:r>
          </a:p>
        </p:txBody>
      </p:sp>
    </p:spTree>
    <p:extLst>
      <p:ext uri="{BB962C8B-B14F-4D97-AF65-F5344CB8AC3E}">
        <p14:creationId xmlns:p14="http://schemas.microsoft.com/office/powerpoint/2010/main" val="53470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77">
            <a:extLst>
              <a:ext uri="{FF2B5EF4-FFF2-40B4-BE49-F238E27FC236}">
                <a16:creationId xmlns:a16="http://schemas.microsoft.com/office/drawing/2014/main" id="{9B10D43F-7473-433F-89FD-C9795E3AC9EC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" name="text-78">
            <a:extLst>
              <a:ext uri="{FF2B5EF4-FFF2-40B4-BE49-F238E27FC236}">
                <a16:creationId xmlns:a16="http://schemas.microsoft.com/office/drawing/2014/main" id="{0918DEA7-648D-4BDF-9280-58717F459E87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1A303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A3037"/>
                </a:solidFill>
                <a:latin typeface="Arial"/>
                <a:ea typeface="Arial"/>
                <a:cs typeface="Arial"/>
              </a:rPr>
              <a:t>Workflow verification</a:t>
            </a:r>
          </a:p>
        </p:txBody>
      </p:sp>
      <p:sp>
        <p:nvSpPr>
          <p:cNvPr id="3" name="text-79">
            <a:extLst>
              <a:ext uri="{FF2B5EF4-FFF2-40B4-BE49-F238E27FC236}">
                <a16:creationId xmlns:a16="http://schemas.microsoft.com/office/drawing/2014/main" id="{965C7561-5A20-487F-B98B-DEED82288945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C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C674BC-B540-443D-AEDE-458A341D8362}"/>
              </a:ext>
            </a:extLst>
          </p:cNvPr>
          <p:cNvGraphicFramePr/>
          <p:nvPr/>
        </p:nvGraphicFramePr>
        <p:xfrm>
          <a:off x="800100" y="2905125"/>
          <a:ext cx="13620750" cy="4000500"/>
        </p:xfrm>
        <a:graphic>
          <a:graphicData uri="http://schemas.openxmlformats.org/drawingml/2006/table">
            <a:tbl>
              <a:tblPr/>
              <a:tblGrid>
                <a:gridCol w="43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171450" marR="171450" marT="76200" marB="76200" anchor="ctr">
                    <a:solidFill>
                      <a:srgbClr val="EA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Case progression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Review, tracking and receipt show the same saved record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SAP failure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Lookup errors preserve the saved case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Review recovery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Draft recovery and version checks protect review work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Submission package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A3037"/>
                          </a:solidFill>
                          <a:latin typeface="Arial"/>
                          <a:ea typeface="Arial"/>
                          <a:cs typeface="Arial"/>
                        </a:rPr>
                        <a:t>The exported app runs from a fresh copy</a:t>
                      </a:r>
                    </a:p>
                  </a:txBody>
                  <a:tcPr marL="171450" marR="171450" marT="76200" marB="76200" anchor="ctr">
                    <a:solidFill>
                      <a:srgbClr val="F4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6E237CD-CC83-443F-AC32-E3A8D1D32523}"/>
              </a:ext>
            </a:extLst>
          </p:cNvPr>
          <p:cNvSpPr>
            <a:spLocks noGrp="1"/>
          </p:cNvSpPr>
          <p:nvPr/>
        </p:nvSpPr>
        <p:spPr>
          <a:xfrm>
            <a:off x="800100" y="7505700"/>
            <a:ext cx="13620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76C6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67"/>
                </a:solidFill>
                <a:latin typeface="Arial"/>
                <a:ea typeface="Arial"/>
                <a:cs typeface="Arial"/>
              </a:rPr>
              <a:t>OpenCode contributed the core workflow and receipt support</a:t>
            </a:r>
          </a:p>
        </p:txBody>
      </p:sp>
    </p:spTree>
    <p:extLst>
      <p:ext uri="{BB962C8B-B14F-4D97-AF65-F5344CB8AC3E}">
        <p14:creationId xmlns:p14="http://schemas.microsoft.com/office/powerpoint/2010/main" val="109649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93083F-A570-4609-87A5-42E57A4AD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56" r="9756"/>
          <a:stretch>
            <a:fillRect/>
          </a:stretch>
        </p:blipFill>
        <p:spPr>
          <a:xfrm>
            <a:off x="8953500" y="2714625"/>
            <a:ext cx="6286500" cy="5857875"/>
          </a:xfrm>
          <a:prstGeom prst="rect">
            <a:avLst/>
          </a:prstGeom>
        </p:spPr>
      </p:pic>
      <p:sp>
        <p:nvSpPr>
          <p:cNvPr id="2" name="text-86">
            <a:extLst>
              <a:ext uri="{FF2B5EF4-FFF2-40B4-BE49-F238E27FC236}">
                <a16:creationId xmlns:a16="http://schemas.microsoft.com/office/drawing/2014/main" id="{496D0248-D887-4A7A-B2FC-8F211A563812}"/>
              </a:ext>
            </a:extLst>
          </p:cNvPr>
          <p:cNvSpPr>
            <a:spLocks noGrp="1"/>
          </p:cNvSpPr>
          <p:nvPr/>
        </p:nvSpPr>
        <p:spPr>
          <a:xfrm>
            <a:off x="800100" y="514350"/>
            <a:ext cx="1276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E6A4"/>
                </a:solidFill>
                <a:latin typeface="Arial"/>
                <a:ea typeface="Arial"/>
                <a:cs typeface="Arial"/>
              </a:rPr>
              <a:t>PILOT PROPOSAL</a:t>
            </a:r>
          </a:p>
        </p:txBody>
      </p:sp>
      <p:sp>
        <p:nvSpPr>
          <p:cNvPr id="3" name="text-87">
            <a:extLst>
              <a:ext uri="{FF2B5EF4-FFF2-40B4-BE49-F238E27FC236}">
                <a16:creationId xmlns:a16="http://schemas.microsoft.com/office/drawing/2014/main" id="{ED80F11F-CE3D-41B1-9999-FFD4BA5652A7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31445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step: a small pilot</a:t>
            </a:r>
          </a:p>
        </p:txBody>
      </p:sp>
      <p:sp>
        <p:nvSpPr>
          <p:cNvPr id="4" name="text-88">
            <a:extLst>
              <a:ext uri="{FF2B5EF4-FFF2-40B4-BE49-F238E27FC236}">
                <a16:creationId xmlns:a16="http://schemas.microsoft.com/office/drawing/2014/main" id="{4C99A628-7D5E-4077-87F9-17ADD97961A1}"/>
              </a:ext>
            </a:extLst>
          </p:cNvPr>
          <p:cNvSpPr>
            <a:spLocks noGrp="1"/>
          </p:cNvSpPr>
          <p:nvPr/>
        </p:nvSpPr>
        <p:spPr>
          <a:xfrm>
            <a:off x="14001750" y="523875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6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89">
            <a:extLst>
              <a:ext uri="{FF2B5EF4-FFF2-40B4-BE49-F238E27FC236}">
                <a16:creationId xmlns:a16="http://schemas.microsoft.com/office/drawing/2014/main" id="{8DBABBA3-4235-4415-92B7-53284855AEFC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74295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 approval</a:t>
            </a:r>
          </a:p>
        </p:txBody>
      </p:sp>
      <p:sp>
        <p:nvSpPr>
          <p:cNvPr id="6" name="text-90">
            <a:extLst>
              <a:ext uri="{FF2B5EF4-FFF2-40B4-BE49-F238E27FC236}">
                <a16:creationId xmlns:a16="http://schemas.microsoft.com/office/drawing/2014/main" id="{75FF5DA0-BD4B-4C4C-8930-567C093C374D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747712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Agree the required checks</a:t>
            </a:r>
          </a:p>
          <a:p>
            <a:pPr algn="l"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the process owner.</a:t>
            </a:r>
          </a:p>
        </p:txBody>
      </p:sp>
      <p:sp>
        <p:nvSpPr>
          <p:cNvPr id="7" name="text-91">
            <a:extLst>
              <a:ext uri="{FF2B5EF4-FFF2-40B4-BE49-F238E27FC236}">
                <a16:creationId xmlns:a16="http://schemas.microsoft.com/office/drawing/2014/main" id="{2A0F144E-4310-47F0-AA63-5E1555638189}"/>
              </a:ext>
            </a:extLst>
          </p:cNvPr>
          <p:cNvSpPr>
            <a:spLocks noGrp="1"/>
          </p:cNvSpPr>
          <p:nvPr/>
        </p:nvSpPr>
        <p:spPr>
          <a:xfrm>
            <a:off x="800100" y="6362700"/>
            <a:ext cx="7477125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Measure readiness, rework</a:t>
            </a:r>
          </a:p>
          <a:p>
            <a:pPr algn="l">
              <a:buNone/>
              <a:defRPr sz="2550" b="0">
                <a:solidFill>
                  <a:srgbClr val="D6E6A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6E6A4"/>
                </a:solidFill>
                <a:latin typeface="Arial"/>
                <a:ea typeface="Arial"/>
                <a:cs typeface="Arial"/>
              </a:rPr>
              <a:t>and staff handling time.</a:t>
            </a:r>
          </a:p>
        </p:txBody>
      </p:sp>
      <p:sp>
        <p:nvSpPr>
          <p:cNvPr id="8" name="text-92">
            <a:extLst>
              <a:ext uri="{FF2B5EF4-FFF2-40B4-BE49-F238E27FC236}">
                <a16:creationId xmlns:a16="http://schemas.microsoft.com/office/drawing/2014/main" id="{FAC86DF9-794D-489F-92DD-39133F49DB91}"/>
              </a:ext>
            </a:extLst>
          </p:cNvPr>
          <p:cNvSpPr>
            <a:spLocks noGrp="1"/>
          </p:cNvSpPr>
          <p:nvPr/>
        </p:nvSpPr>
        <p:spPr>
          <a:xfrm>
            <a:off x="800100" y="7800975"/>
            <a:ext cx="7620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C7D6D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>
                <a:solidFill>
                  <a:srgbClr val="C7D6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6D0"/>
                </a:solidFill>
                <a:latin typeface="Arial"/>
                <a:ea typeface="Arial"/>
                <a:cs typeface="Arial"/>
              </a:rPr>
              <a:t>Proposed pilot measures</a:t>
            </a:r>
          </a:p>
        </p:txBody>
      </p:sp>
    </p:spTree>
    <p:extLst>
      <p:ext uri="{BB962C8B-B14F-4D97-AF65-F5344CB8AC3E}">
        <p14:creationId xmlns:p14="http://schemas.microsoft.com/office/powerpoint/2010/main" val="172892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B0C34F-AF2D-46D9-84E5-4B4DCFF87852}"/>
              </a:ext>
            </a:extLst>
          </p:cNvPr>
          <p:cNvGraphicFramePr/>
          <p:nvPr/>
        </p:nvGraphicFramePr>
        <p:xfrm>
          <a:off x="114300" y="5117254"/>
          <a:ext cx="14973301" cy="166243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676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5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0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>
                          <a:latin typeface="Calibri"/>
                          <a:ea typeface="Calibri"/>
                          <a:cs typeface="Calibri"/>
                        </a:rPr>
                        <a:t>GROUPMEMBER</a:t>
                      </a: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>
                          <a:latin typeface="Calibri"/>
                          <a:ea typeface="Calibri"/>
                          <a:cs typeface="Calibri"/>
                        </a:rPr>
                        <a:t>Yi Han</a:t>
                      </a: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>
                          <a:latin typeface="Calibri"/>
                          <a:ea typeface="Calibri"/>
                          <a:cs typeface="Calibri"/>
                        </a:rPr>
                        <a:t>Xiao Lin</a:t>
                      </a: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>
                          <a:latin typeface="Calibri"/>
                          <a:ea typeface="Calibri"/>
                          <a:cs typeface="Calibri"/>
                        </a:rPr>
                        <a:t>Zhuyi Xia</a:t>
                      </a: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>
                          <a:latin typeface="Calibri"/>
                          <a:ea typeface="Calibri"/>
                          <a:cs typeface="Calibri"/>
                        </a:rPr>
                        <a:t>Zihang Zhang</a:t>
                      </a: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Total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0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sz="2500"/>
                        <a:t>UPI: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yhan606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xlin031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zxia461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zahz503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 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sz="2500"/>
                        <a:t>2.  % Contribution: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25%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25%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25%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25%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100%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sz="2500"/>
                        <a:t>3.  Comments: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500"/>
                        <a:t> </a:t>
                      </a:r>
                      <a:endParaRPr sz="2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5725" marR="8572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BE12994-8201-42BA-0360-7B8B893D5EF9}"/>
              </a:ext>
            </a:extLst>
          </p:cNvPr>
          <p:cNvSpPr>
            <a:spLocks noGrp="1"/>
          </p:cNvSpPr>
          <p:nvPr/>
        </p:nvSpPr>
        <p:spPr>
          <a:xfrm>
            <a:off x="114300" y="947727"/>
            <a:ext cx="14973301" cy="4065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14300" tIns="158700" rIns="114300" bIns="57150" anchor="ctr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defTabSz="1143000"/>
            <a:r>
              <a:rPr sz="25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We take equal contribution in groupwork seriously, and marks may be deducted where there is a significant inequality in the team’s contribution. In the following table, state each group member’s contribution* to this assignment. You may also include any comments to support the % contribution indicated on the table.</a:t>
            </a:r>
            <a:endParaRPr sz="2500">
              <a:latin typeface="+mn-lt"/>
              <a:ea typeface="+mn-lt"/>
              <a:cs typeface="+mn-lt"/>
            </a:endParaRPr>
          </a:p>
          <a:p>
            <a:pPr defTabSz="1143000"/>
            <a:endParaRPr sz="2500">
              <a:latin typeface="+mn-lt"/>
              <a:ea typeface="+mn-lt"/>
              <a:cs typeface="+mn-lt"/>
            </a:endParaRPr>
          </a:p>
          <a:p>
            <a:pPr defTabSz="1143000"/>
            <a:r>
              <a:rPr sz="2500">
                <a:latin typeface="+mn-lt"/>
                <a:ea typeface="+mn-lt"/>
                <a:cs typeface="+mn-lt"/>
              </a:rPr>
              <a:t>*No contribution to the deliverable may result in a deduction of marks in the group assignment.</a:t>
            </a:r>
          </a:p>
          <a:p>
            <a:pPr defTabSz="1143000"/>
            <a:endParaRPr sz="2500" b="1">
              <a:latin typeface="+mn-lt"/>
              <a:ea typeface="+mn-lt"/>
              <a:cs typeface="+mn-lt"/>
            </a:endParaRPr>
          </a:p>
          <a:p>
            <a:pPr defTabSz="1143000"/>
            <a:r>
              <a:rPr sz="2500" b="1">
                <a:latin typeface="+mn-lt"/>
                <a:ea typeface="+mn-lt"/>
                <a:cs typeface="+mn-lt"/>
              </a:rPr>
              <a:t>Criteria explanation:</a:t>
            </a:r>
            <a:endParaRPr sz="2500">
              <a:latin typeface="+mn-lt"/>
              <a:ea typeface="+mn-lt"/>
              <a:cs typeface="+mn-lt"/>
            </a:endParaRPr>
          </a:p>
          <a:p>
            <a:pPr defTabSz="1143000"/>
            <a:r>
              <a:rPr sz="2500" b="1">
                <a:latin typeface="+mn-lt"/>
                <a:ea typeface="+mn-lt"/>
                <a:cs typeface="+mn-lt"/>
              </a:rPr>
              <a:t>1. UPI:</a:t>
            </a:r>
            <a:r>
              <a:rPr sz="2500">
                <a:latin typeface="+mn-lt"/>
                <a:ea typeface="+mn-lt"/>
                <a:cs typeface="+mn-lt"/>
              </a:rPr>
              <a:t> Enter Team Member’s UPI.</a:t>
            </a:r>
          </a:p>
          <a:p>
            <a:pPr defTabSz="1143000"/>
            <a:r>
              <a:rPr sz="2500" b="1">
                <a:latin typeface="+mn-lt"/>
                <a:ea typeface="+mn-lt"/>
                <a:cs typeface="+mn-lt"/>
              </a:rPr>
              <a:t>2. % Contribution: </a:t>
            </a:r>
            <a:r>
              <a:rPr sz="2500">
                <a:latin typeface="+mn-lt"/>
                <a:ea typeface="+mn-lt"/>
                <a:cs typeface="+mn-lt"/>
              </a:rPr>
              <a:t>Enter a % of contribution for each member that should add up to 100% for the team.</a:t>
            </a:r>
          </a:p>
          <a:p>
            <a:pPr defTabSz="1143000"/>
            <a:r>
              <a:rPr sz="2500" b="1">
                <a:solidFill>
                  <a:srgbClr val="000000"/>
                </a:solidFill>
                <a:latin typeface="+mn-lt"/>
                <a:ea typeface="+mn-lt"/>
                <a:cs typeface="+mn-lt"/>
              </a:rPr>
              <a:t>3. Comments (optional):</a:t>
            </a:r>
            <a:r>
              <a:rPr sz="25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 Add a comment if needed to support your indication of the % contribution. </a:t>
            </a:r>
            <a:endParaRPr sz="2500">
              <a:latin typeface="+mn-lt"/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78D3CC-ED1C-E489-27B9-2AE7EB9EBFFD}"/>
              </a:ext>
            </a:extLst>
          </p:cNvPr>
          <p:cNvSpPr>
            <a:spLocks noGrp="1"/>
          </p:cNvSpPr>
          <p:nvPr/>
        </p:nvSpPr>
        <p:spPr>
          <a:xfrm>
            <a:off x="114300" y="267921"/>
            <a:ext cx="14973301" cy="55399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sz="3000">
                <a:solidFill>
                  <a:schemeClr val="bg1"/>
                </a:solidFill>
              </a:rPr>
              <a:t>GROUPWORK MANAGEMENT DISCLAIMER</a:t>
            </a:r>
          </a:p>
        </p:txBody>
      </p:sp>
    </p:spTree>
    <p:extLst>
      <p:ext uri="{BB962C8B-B14F-4D97-AF65-F5344CB8AC3E}">
        <p14:creationId xmlns:p14="http://schemas.microsoft.com/office/powerpoint/2010/main" val="32564045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1713</Words>
  <Application>Microsoft Office PowerPoint</Application>
  <DocSecurity>0</DocSecurity>
  <PresentationFormat>Custom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Zihang Zhang</cp:lastModifiedBy>
  <cp:revision>1</cp:revision>
  <dcterms:created xsi:type="dcterms:W3CDTF">2026-10-08T23:50:17Z</dcterms:created>
  <dcterms:modified xsi:type="dcterms:W3CDTF">2026-10-08T23:50:34Z</dcterms:modified>
</cp:coreProperties>
</file>